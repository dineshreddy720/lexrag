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Reddy Kunduru" userId="91e034a606d2f7ce" providerId="LiveId" clId="{0874BAEA-DE85-4578-8E9F-43234A52C3DD}"/>
    <pc:docChg chg="custSel modSld">
      <pc:chgData name="Dinesh Reddy Kunduru" userId="91e034a606d2f7ce" providerId="LiveId" clId="{0874BAEA-DE85-4578-8E9F-43234A52C3DD}" dt="2026-04-04T02:56:47.507" v="69" actId="14100"/>
      <pc:docMkLst>
        <pc:docMk/>
      </pc:docMkLst>
      <pc:sldChg chg="delSp modSp mod">
        <pc:chgData name="Dinesh Reddy Kunduru" userId="91e034a606d2f7ce" providerId="LiveId" clId="{0874BAEA-DE85-4578-8E9F-43234A52C3DD}" dt="2026-04-04T02:56:47.507" v="69" actId="14100"/>
        <pc:sldMkLst>
          <pc:docMk/>
          <pc:sldMk cId="0" sldId="256"/>
        </pc:sldMkLst>
        <pc:spChg chg="mod">
          <ac:chgData name="Dinesh Reddy Kunduru" userId="91e034a606d2f7ce" providerId="LiveId" clId="{0874BAEA-DE85-4578-8E9F-43234A52C3DD}" dt="2026-04-04T02:56:47.507" v="69" actId="14100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Dinesh Reddy Kunduru" userId="91e034a606d2f7ce" providerId="LiveId" clId="{0874BAEA-DE85-4578-8E9F-43234A52C3DD}" dt="2026-04-04T02:55:02.342" v="26" actId="21"/>
          <ac:spMkLst>
            <pc:docMk/>
            <pc:sldMk cId="0" sldId="256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1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3474720" cy="34747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0" y="548640"/>
            <a:ext cx="2011680" cy="201168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C7D2FE">
              <a:alpha val="12000"/>
            </a:srgbClr>
          </a:solidFill>
          <a:ln w="12700">
            <a:solidFill>
              <a:srgbClr val="C7D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572000" cy="411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2743200" cy="411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0" y="0"/>
            <a:ext cx="1828800" cy="411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" y="502920"/>
            <a:ext cx="2743200" cy="329184"/>
          </a:xfrm>
          <a:prstGeom prst="roundRect">
            <a:avLst>
              <a:gd name="adj" fmla="val 27778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19" y="502920"/>
            <a:ext cx="27432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6366F1"/>
                </a:solidFill>
              </a:rPr>
              <a:t>DSCI 6004  ·  Natural Language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02412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LexRAG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Open-Source LLMs for Legal Document Q·A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7632" y="3108960"/>
            <a:ext cx="731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95728" y="3108960"/>
            <a:ext cx="36576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 Reddy Kunduru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06640" y="448056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 / 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92608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 &amp; Corpus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96112"/>
            <a:ext cx="4160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" y="102412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6366F1">
              <a:alpha val="85000"/>
            </a:srgbClr>
          </a:solidFill>
          <a:ln w="12700">
            <a:solidFill>
              <a:srgbClr val="6366F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0241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TOPIC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3167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— Supreme Court Opinion Q·A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709160" y="896112"/>
            <a:ext cx="4160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73752" y="102412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73752" y="10241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DOMAIN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73752" y="13167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Amendment  ·  Free Speech Jurisprudence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20040" y="20116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CA3AF"/>
                </a:solidFill>
              </a:rPr>
              <a:t>CORPUS  ·  5 Supreme Court Opinions from CourtListener.com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1618488" cy="2487168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2542032"/>
            <a:ext cx="704088" cy="10972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74320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 v.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Moines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8056" y="4407408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Student Speech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29968" y="2331720"/>
            <a:ext cx="1618488" cy="2487168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87168" y="2542032"/>
            <a:ext cx="704088" cy="10972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29968" y="274320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121408" y="3090672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Brandenburg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Ohio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157984" y="4407408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57984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Incitement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39896" y="2331720"/>
            <a:ext cx="1618488" cy="2487168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97096" y="2542032"/>
            <a:ext cx="70408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39896" y="274320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31336" y="3090672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 v.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Sullivan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67912" y="4407408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67912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Press Freedom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9824" y="2331720"/>
            <a:ext cx="1618488" cy="2487168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07024" y="2542032"/>
            <a:ext cx="70408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49824" y="274320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541264" y="3090672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Snyder v.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Phelps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577840" y="4407408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77840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Public Speech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59752" y="2331720"/>
            <a:ext cx="1618488" cy="2487168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16952" y="2542032"/>
            <a:ext cx="704088" cy="10972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59752" y="274320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251192" y="3090672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Matal v.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287768" y="4407408"/>
            <a:ext cx="1362456" cy="274320"/>
          </a:xfrm>
          <a:prstGeom prst="roundRect">
            <a:avLst>
              <a:gd name="adj" fmla="val 26667"/>
            </a:avLst>
          </a:prstGeom>
          <a:solidFill>
            <a:srgbClr val="4338CA">
              <a:alpha val="15000"/>
            </a:srgbClr>
          </a:solidFill>
          <a:ln w="12700">
            <a:solidFill>
              <a:srgbClr val="4338C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87768" y="4407408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38CA"/>
                </a:solidFill>
              </a:rPr>
              <a:t>Trademark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114800" cy="41148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Objectives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85039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1069848"/>
            <a:ext cx="566928" cy="566928"/>
          </a:xfrm>
          <a:prstGeom prst="ellipse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069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Legal RAG System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767328" y="1033272"/>
            <a:ext cx="27432" cy="62179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13632" y="960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5+ First Amendment opinions into a FAISS vector store using sentence-transformer embeddings and a 512-token chunking strategy.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1344168"/>
            <a:ext cx="731520" cy="3657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85039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2139696"/>
            <a:ext cx="566928" cy="566928"/>
          </a:xfrm>
          <a:prstGeom prst="ellipse">
            <a:avLst/>
          </a:prstGeom>
          <a:solidFill>
            <a:srgbClr val="06B6D4">
              <a:alpha val="88000"/>
            </a:srgbClr>
          </a:solidFill>
          <a:ln w="12700">
            <a:solidFill>
              <a:srgbClr val="06B6D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Three Open-Source LLMs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67328" y="2103120"/>
            <a:ext cx="27432" cy="62179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13632" y="20299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Mistral-7B, Phi-3-mini, and Llama-3-8B through identical prompts on the same retrieved context, ensuring a controlled fair comparison.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88720" y="2414016"/>
            <a:ext cx="731520" cy="3657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3008376"/>
            <a:ext cx="85039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3209544"/>
            <a:ext cx="566928" cy="566928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209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0998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Hallucination Rate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767328" y="3172968"/>
            <a:ext cx="27432" cy="62179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13632" y="30998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fabricated citations, misquoted rulings, and facts absent from retrieved chunks — computing a per-model hallucination percentage.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88720" y="3483864"/>
            <a:ext cx="731520" cy="3657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078224"/>
            <a:ext cx="85039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" y="4279392"/>
            <a:ext cx="566928" cy="56692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4169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Reasoning Quality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3767328" y="4242816"/>
            <a:ext cx="27432" cy="62179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13632" y="416966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three models across 10 domain-specific questions spanning factual, reasoning, and ambiguous tiers using a standardized rubric.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4553712"/>
            <a:ext cx="731520" cy="3657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Value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8503920" cy="12344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  <a:effectLst>
            <a:outerShdw blurRad="152400" dist="25400" dir="8100000" algn="bl" rotWithShape="0">
              <a:srgbClr val="6366F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6366F1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93268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Lawyers were sanctioned by federal judges for citing hallucinated AI-generated cases in court filings.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7007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</a:rPr>
              <a:t>Reuters / Bloomberg Law, 2023  ·  A documented crisis this project directly addresses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2715768" cy="2578608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25880" y="2395728"/>
            <a:ext cx="704088" cy="70408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5880" y="2395728"/>
            <a:ext cx="704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Safety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" y="362102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open-source models are least likely to fabricate legal holdings — directly relevant for responsible AI in law and courtrooms.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2267712"/>
            <a:ext cx="2715768" cy="2578608"/>
          </a:xfrm>
          <a:prstGeom prst="roundRect">
            <a:avLst>
              <a:gd name="adj" fmla="val 6383"/>
            </a:avLst>
          </a:prstGeom>
          <a:solidFill>
            <a:srgbClr val="ECFDF5"/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06240" y="2395728"/>
            <a:ext cx="704088" cy="7040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2395728"/>
            <a:ext cx="704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6499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64992" y="362102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benchmark compares Mistral, Phi-3, and Llama-3 on dense legal retrieval Q·A. This project fills that gap with a reproducible pipeline.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267712"/>
            <a:ext cx="2715768" cy="2578608"/>
          </a:xfrm>
          <a:prstGeom prst="roundRect">
            <a:avLst>
              <a:gd name="adj" fmla="val 6383"/>
            </a:avLst>
          </a:prstGeom>
          <a:solidFill>
            <a:srgbClr val="FFFBEB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86600" y="2395728"/>
            <a:ext cx="704088" cy="7040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86600" y="2395728"/>
            <a:ext cx="704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535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45352" y="362102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models, code, and data are free and open-source. Every result is fully reproducible by other researchers without cost or API access.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 ·  RAG Foundations  (1 of 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41248"/>
            <a:ext cx="85039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73152" cy="93268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04241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042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9326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6366F1"/>
                </a:solidFill>
              </a:rPr>
              <a:t>Lewis et al., 2020  ·  NeurIPS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24128" y="1170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Knowledge-Intensive NLP Tasks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147218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RAG framework combining dense passage retrieval with seq2seq generation. Strong gains on open-domain QA benchmarks. The foundational paper for this project's entire architecture.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85039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73152" cy="93268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4597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35000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6B6D4"/>
                </a:solidFill>
              </a:rPr>
              <a:t>Gao et al., 2023  ·  arXiv 2312.10997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4128" y="2587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Large Language Models: A Survey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88950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RAG into Naive, Advanced, and Modular paradigms. Reviews chunking strategies, retrieval mechanisms, and evaluation approaches that directly inform our system design.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675888"/>
            <a:ext cx="85039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73152" cy="93268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8770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76732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0B981"/>
                </a:solidFill>
              </a:rPr>
              <a:t>Mallen et al., 2023  ·  ACL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24128" y="40050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Trust Language Models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3068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LLMs frequently hallucinate on factual queries requiring specific knowledge. Provides the empirical motivation for RAG as a grounding mechanism in legal contexts.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3474720" cy="3474720"/>
          </a:xfrm>
          <a:prstGeom prst="ellipse">
            <a:avLst/>
          </a:prstGeom>
          <a:solidFill>
            <a:srgbClr val="06B6D4">
              <a:alpha val="7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 ·  Legal NLP &amp; Hallucination  (2 of 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950976"/>
            <a:ext cx="73152" cy="71323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6366F1"/>
                </a:solidFill>
              </a:rPr>
              <a:t>Chalkidis et al., 2020  ·  EMNLP Findings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1155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LEGAL-BERT: Pre-training for the Legal Domain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13624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BERT on large legal corpora. Domain pretraining dramatically outperforms general models on legal tasks, motivating analysis of whether general open-source LLMs can compete in a RAG setting.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901952"/>
            <a:ext cx="850392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9751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6B6D4"/>
                </a:solidFill>
              </a:rPr>
              <a:t>Chalkidis et al., 2022  ·  ACL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194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LexGLUE: A Benchmark for Legal Language Understanding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441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legal NLP benchmark covering EU and US court decisions. Informs our three-tier question taxonomy: factual, reasoning, and ambiguous question types.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850392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0540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10B981"/>
                </a:solidFill>
              </a:rPr>
              <a:t>Huang et al., 2023  ·  arXiv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273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Hallucination in Large Language Models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intrinsic vs. extrinsic hallucination. This taxonomy maps directly to our hallucination scoring rubric, enabling principled measurement across all three models.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059936"/>
            <a:ext cx="8503920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73152" cy="7132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133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59E0B"/>
                </a:solidFill>
              </a:rPr>
              <a:t>Magesh et al., 2024  ·  arXiv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Hallucination-Free? Assessing AI Legal Research Tools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599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legal AI tools hallucinate case citations at 17-33% rates. Directly motivates benchmarking open-source alternatives — the core contribution of this project.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2926080" cy="2926080"/>
          </a:xfrm>
          <a:prstGeom prst="ellipse">
            <a:avLst/>
          </a:prstGeom>
          <a:solidFill>
            <a:srgbClr val="10B981">
              <a:alpha val="7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CA3AF"/>
                </a:solidFill>
              </a:rPr>
              <a:t>THREE OPEN-SOURCE LLMs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042416"/>
            <a:ext cx="271576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" y="1115568"/>
            <a:ext cx="50292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225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" y="1563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</a:rPr>
              <a:t>Instruct v0.2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6F1"/>
                </a:solidFill>
              </a:rPr>
              <a:t>HuggingFace Inference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42416"/>
            <a:ext cx="271576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64992" y="1115568"/>
            <a:ext cx="502920" cy="640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1225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Phi-3-mini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64992" y="1563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</a:rPr>
              <a:t>4k-instruct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</a:rPr>
              <a:t>HuggingFace Inference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042416"/>
            <a:ext cx="271576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45352" y="1115568"/>
            <a:ext cx="502920" cy="640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12252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45352" y="1563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A3AF"/>
                </a:solidFill>
              </a:rPr>
              <a:t>Instruct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5352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Colab + llama-cpp-python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212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CA3AF"/>
                </a:solidFill>
              </a:rPr>
              <a:t>PIPELINE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4088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Loader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</a:rPr>
              <a:t>PyMuPDF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18488" y="2926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55648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139696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0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847088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847088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</a:rPr>
              <a:t>512 tok / 64 ov.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054096" y="2926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91256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75304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282696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282696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</a:rPr>
              <a:t>all-MiniLM-L6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89704" y="2926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6864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10912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0016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18304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18304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</a:rPr>
              <a:t>Vector store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25312" y="2926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62472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446520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35624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153912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153912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A3AF"/>
                </a:solidFill>
              </a:rPr>
              <a:t>Top-5 chunks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60920" y="2926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498080" y="2468880"/>
            <a:ext cx="1298448" cy="1417320"/>
          </a:xfrm>
          <a:prstGeom prst="roundRect">
            <a:avLst>
              <a:gd name="adj" fmla="val 985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882128" y="2542032"/>
            <a:ext cx="530352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571232" y="26151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89520" y="29718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589520" y="3346704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EF2FF"/>
                </a:solidFill>
              </a:rPr>
              <a:t>3 models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4041648"/>
            <a:ext cx="8503920" cy="82296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5488" y="4169664"/>
            <a:ext cx="1097280" cy="219456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5488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NOVEL ANGLE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5488" y="44256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faithfulness scoring: each answer cross-checked against retrieved chunks. Fabricated citations and misquoted standards flagged — producing a per-model hallucination rate not previously benchmarked for open-source legal RAG.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68680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069848"/>
            <a:ext cx="640080" cy="640080"/>
          </a:xfrm>
          <a:prstGeom prst="ellipse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069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11880" y="978408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9784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Apr 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Code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234440" y="1335024"/>
            <a:ext cx="640080" cy="3657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34440" y="1417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notebook: PDF ingestion, FAISS indexing, multi-LLM query runner, hallucination scoring.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868680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64608" y="1069848"/>
            <a:ext cx="640080" cy="640080"/>
          </a:xfrm>
          <a:prstGeom prst="ellipse">
            <a:avLst/>
          </a:prstGeom>
          <a:solidFill>
            <a:srgbClr val="06B6D4">
              <a:alpha val="88000"/>
            </a:srgbClr>
          </a:solidFill>
          <a:ln w="12700">
            <a:solidFill>
              <a:srgbClr val="06B6D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069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9288" y="978408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19288" y="9784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Apr 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4184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Domain Questions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41848" y="1335024"/>
            <a:ext cx="640080" cy="3657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41848" y="1417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Factual, reasoning, and ambiguous tier questions with verified answers from source opinions.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295144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2496312"/>
            <a:ext cx="640080" cy="640080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11880" y="2404872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24048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Apr 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34440" y="2386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Results Dataset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234440" y="2761488"/>
            <a:ext cx="640080" cy="3657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34440" y="28437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with all LLM responses, per-question hallucination flags, and reasoning ratings.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2295144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64608" y="2496312"/>
            <a:ext cx="640080" cy="64008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19288" y="2404872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19288" y="24048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Apr 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41848" y="2386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41848" y="2761488"/>
            <a:ext cx="640080" cy="3657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41848" y="284378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10-min unlisted YouTube video showing the live system querying all 3 models.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3721608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3922776"/>
            <a:ext cx="640080" cy="640080"/>
          </a:xfrm>
          <a:prstGeom prst="ellipse">
            <a:avLst/>
          </a:prstGeom>
          <a:solidFill>
            <a:srgbClr val="4338CA">
              <a:alpha val="88000"/>
            </a:srgbClr>
          </a:solidFill>
          <a:ln w="12700">
            <a:solidFill>
              <a:srgbClr val="4338CA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11880" y="3831336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4338CA">
              <a:alpha val="12000"/>
            </a:srgbClr>
          </a:solidFill>
          <a:ln w="12700">
            <a:solidFill>
              <a:srgbClr val="4338C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11880" y="38313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38CA"/>
                </a:solidFill>
              </a:rPr>
              <a:t>May 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234440" y="3813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Conference-Style Paper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234440" y="4187952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34440" y="42702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page ACL/NeurIPS-format paper with abstract, results, analysis, and 5+ citations.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27448" y="3721608"/>
            <a:ext cx="4160520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64608" y="3922776"/>
            <a:ext cx="640080" cy="640080"/>
          </a:xfrm>
          <a:prstGeom prst="ellipse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64608" y="39227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19288" y="3831336"/>
            <a:ext cx="749808" cy="256032"/>
          </a:xfrm>
          <a:prstGeom prst="roundRect">
            <a:avLst>
              <a:gd name="adj" fmla="val 25000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019288" y="38313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66F1"/>
                </a:solidFill>
              </a:rPr>
              <a:t>May 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41848" y="3813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+ README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5641848" y="4187952"/>
            <a:ext cx="640080" cy="3657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41848" y="42702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with all code, data references, and .MD usage manual for other researchers.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>
              <a:alpha val="7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"/>
            <a:ext cx="914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457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02752" y="173736"/>
            <a:ext cx="658368" cy="347472"/>
          </a:xfrm>
          <a:prstGeom prst="roundRect">
            <a:avLst>
              <a:gd name="adj" fmla="val 2105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02752" y="1737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 /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713232"/>
            <a:ext cx="9144000" cy="2286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8503920" cy="777240"/>
          </a:xfrm>
          <a:prstGeom prst="roundRect">
            <a:avLst>
              <a:gd name="adj" fmla="val 16471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850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9CA3AF"/>
                </a:solidFill>
              </a:rPr>
              <a:t>QUESTION TAXONOMY  ·  10 QUESTIONS  ·  3 TIERS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" y="104241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042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Factual (4)  ·  e.g. What was the ruling in Tinker v. Des Moines?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64408" y="104241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042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Reasoning (3)  ·  e.g. Why did the court rule for Westboro Baptist?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53328" y="1042416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042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Ambiguous (3)  ·  e.g. How might Tinker apply to social media?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773936"/>
            <a:ext cx="4160520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956816"/>
            <a:ext cx="594360" cy="594360"/>
          </a:xfrm>
          <a:prstGeom prst="ellipse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9568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18653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88720" y="2203704"/>
            <a:ext cx="1783080" cy="237744"/>
          </a:xfrm>
          <a:prstGeom prst="roundRect">
            <a:avLst>
              <a:gd name="adj" fmla="val 26923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66F1"/>
                </a:solidFill>
              </a:rPr>
              <a:t>Binary 0 / 1 per question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88720" y="2487168"/>
            <a:ext cx="3154680" cy="228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88720" y="2569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source documents. Correct case name, year, ruling outcome, and legal standard all required for a score of 1.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1773936"/>
            <a:ext cx="4160520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1956816"/>
            <a:ext cx="594360" cy="594360"/>
          </a:xfrm>
          <a:prstGeom prst="ellipse">
            <a:avLst/>
          </a:prstGeom>
          <a:solidFill>
            <a:srgbClr val="06B6D4">
              <a:alpha val="88000"/>
            </a:srgbClr>
          </a:solidFill>
          <a:ln w="12700">
            <a:solidFill>
              <a:srgbClr val="06B6D4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19568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18653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596128" y="2203704"/>
            <a:ext cx="1783080" cy="237744"/>
          </a:xfrm>
          <a:prstGeom prst="roundRect">
            <a:avLst>
              <a:gd name="adj" fmla="val 26923"/>
            </a:avLst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96128" y="22037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B6D4"/>
                </a:solidFill>
              </a:rPr>
              <a:t>% of answers with fabrications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96128" y="2487168"/>
            <a:ext cx="3154680" cy="228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96128" y="256946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citation, quote, or legal holding absent from retrieved chunks is flagged as a hallucination, reported as a percentage per model.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3364992"/>
            <a:ext cx="4160520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3547872"/>
            <a:ext cx="594360" cy="594360"/>
          </a:xfrm>
          <a:prstGeom prst="ellipse">
            <a:avLst/>
          </a:prstGeom>
          <a:solidFill>
            <a:srgbClr val="10B981">
              <a:alpha val="88000"/>
            </a:srgbClr>
          </a:solidFill>
          <a:ln w="12700">
            <a:solidFill>
              <a:srgbClr val="10B981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547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34564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Quality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88720" y="3794760"/>
            <a:ext cx="1783080" cy="237744"/>
          </a:xfrm>
          <a:prstGeom prst="roundRect">
            <a:avLst>
              <a:gd name="adj" fmla="val 26923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88720" y="37947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Human rating 1 – 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188720" y="4078224"/>
            <a:ext cx="3154680" cy="228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88720" y="4160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assessment: does the model explain legal rationale coherently? Does it stay grounded in retrieved text with appropriate hedging?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27448" y="3364992"/>
            <a:ext cx="4160520" cy="1408176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64608" y="3547872"/>
            <a:ext cx="594360" cy="594360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3547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96128" y="34564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Faithfulness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596128" y="3794760"/>
            <a:ext cx="178308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96128" y="37947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NLI-based  (DeBERTa)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96128" y="4078224"/>
            <a:ext cx="3154680" cy="228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96128" y="41605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NLI model checks whether each answer is entailed by retrieved chunks. Provides an objective faithfulness signal.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49560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50" dirty="0">
                <a:solidFill>
                  <a:srgbClr val="9CA3AF"/>
                </a:solidFill>
              </a:rPr>
              <a:t>LexRAG  ·  Dinesh Reddy Kunduru  ·  DSCI 6004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1080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LexRAG</dc:title>
  <dc:subject>PptxGenJS Presentation</dc:subject>
  <dc:creator>Dinesh Reddy Kunduru</dc:creator>
  <cp:lastModifiedBy>Kunduru, Dinesh Reddy</cp:lastModifiedBy>
  <cp:revision>1</cp:revision>
  <dcterms:created xsi:type="dcterms:W3CDTF">2026-04-04T01:29:02Z</dcterms:created>
  <dcterms:modified xsi:type="dcterms:W3CDTF">2026-04-04T02:56:58Z</dcterms:modified>
</cp:coreProperties>
</file>